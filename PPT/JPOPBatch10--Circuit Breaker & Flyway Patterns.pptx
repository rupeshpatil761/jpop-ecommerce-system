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7" r:id="rId1"/>
    <p:sldMasterId id="2147483668" r:id="rId2"/>
  </p:sldMasterIdLst>
  <p:notesMasterIdLst>
    <p:notesMasterId r:id="rId17"/>
  </p:notesMasterIdLst>
  <p:sldIdLst>
    <p:sldId id="256" r:id="rId3"/>
    <p:sldId id="329" r:id="rId4"/>
    <p:sldId id="352" r:id="rId5"/>
    <p:sldId id="354" r:id="rId6"/>
    <p:sldId id="353" r:id="rId7"/>
    <p:sldId id="355" r:id="rId8"/>
    <p:sldId id="356" r:id="rId9"/>
    <p:sldId id="357" r:id="rId10"/>
    <p:sldId id="362" r:id="rId11"/>
    <p:sldId id="363" r:id="rId12"/>
    <p:sldId id="366" r:id="rId13"/>
    <p:sldId id="365" r:id="rId14"/>
    <p:sldId id="367" r:id="rId15"/>
    <p:sldId id="346" r:id="rId1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736">
          <p15:clr>
            <a:srgbClr val="A4A3A4"/>
          </p15:clr>
        </p15:guide>
        <p15:guide id="2" pos="1477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agaraju Koppu" initials="NK" lastIdx="1" clrIdx="0">
    <p:extLst>
      <p:ext uri="{19B8F6BF-5375-455C-9EA6-DF929625EA0E}">
        <p15:presenceInfo xmlns:p15="http://schemas.microsoft.com/office/powerpoint/2012/main" userId="S-1-5-21-2676001572-3131771074-2776907194-3481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82" autoAdjust="0"/>
    <p:restoredTop sz="94660"/>
  </p:normalViewPr>
  <p:slideViewPr>
    <p:cSldViewPr snapToGrid="0">
      <p:cViewPr varScale="1">
        <p:scale>
          <a:sx n="83" d="100"/>
          <a:sy n="83" d="100"/>
        </p:scale>
        <p:origin x="70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736"/>
        <p:guide pos="147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commentAuthors" Target="commentAuthors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9" name="Shape 149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154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5" name="Shape 155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5220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Cover">
    <p:bg>
      <p:bgPr>
        <a:solidFill>
          <a:schemeClr val="accent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 txBox="1">
            <a:spLocks noGrp="1"/>
          </p:cNvSpPr>
          <p:nvPr>
            <p:ph type="title"/>
          </p:nvPr>
        </p:nvSpPr>
        <p:spPr>
          <a:xfrm>
            <a:off x="531466" y="1412416"/>
            <a:ext cx="4315968" cy="1421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sz="4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" name="Shape 14"/>
          <p:cNvSpPr txBox="1">
            <a:spLocks noGrp="1"/>
          </p:cNvSpPr>
          <p:nvPr>
            <p:ph type="dt" idx="10"/>
          </p:nvPr>
        </p:nvSpPr>
        <p:spPr>
          <a:xfrm>
            <a:off x="625596" y="3843769"/>
            <a:ext cx="1945326" cy="399456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0" rIns="182875" bIns="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5" name="Shape 15"/>
          <p:cNvSpPr txBox="1">
            <a:spLocks noGrp="1"/>
          </p:cNvSpPr>
          <p:nvPr>
            <p:ph type="body" idx="1"/>
          </p:nvPr>
        </p:nvSpPr>
        <p:spPr>
          <a:xfrm>
            <a:off x="531466" y="3049747"/>
            <a:ext cx="4315968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/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6" name="Shape 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333937" y="0"/>
            <a:ext cx="3810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Shape 17"/>
          <p:cNvSpPr/>
          <p:nvPr/>
        </p:nvSpPr>
        <p:spPr>
          <a:xfrm>
            <a:off x="5333937" y="0"/>
            <a:ext cx="3810000" cy="5143500"/>
          </a:xfrm>
          <a:prstGeom prst="rect">
            <a:avLst/>
          </a:prstGeom>
          <a:solidFill>
            <a:srgbClr val="464547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Shape 18"/>
          <p:cNvPicPr preferRelativeResize="0"/>
          <p:nvPr/>
        </p:nvPicPr>
        <p:blipFill rotWithShape="1">
          <a:blip r:embed="rId3">
            <a:alphaModFix/>
          </a:blip>
          <a:srcRect l="-1"/>
          <a:stretch/>
        </p:blipFill>
        <p:spPr>
          <a:xfrm rot="5400000">
            <a:off x="2767227" y="2306574"/>
            <a:ext cx="5143500" cy="530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Shape 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7880" y="511280"/>
            <a:ext cx="891284" cy="316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40"/>
          <p:cNvSpPr txBox="1">
            <a:spLocks noGrp="1"/>
          </p:cNvSpPr>
          <p:nvPr>
            <p:ph type="title"/>
          </p:nvPr>
        </p:nvSpPr>
        <p:spPr>
          <a:xfrm>
            <a:off x="360364" y="228600"/>
            <a:ext cx="8426449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body" idx="1"/>
          </p:nvPr>
        </p:nvSpPr>
        <p:spPr>
          <a:xfrm>
            <a:off x="357189" y="1079500"/>
            <a:ext cx="3986212" cy="339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L="457200" marR="0" lvl="0" indent="-298450" algn="l" rtl="0">
              <a:lnSpc>
                <a:spcPct val="145454"/>
              </a:lnSpc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body" idx="2"/>
          </p:nvPr>
        </p:nvSpPr>
        <p:spPr>
          <a:xfrm>
            <a:off x="4800600" y="1079500"/>
            <a:ext cx="3986213" cy="339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L="457200" marR="0" lvl="0" indent="-298450" algn="l" rtl="0">
              <a:lnSpc>
                <a:spcPct val="145454"/>
              </a:lnSpc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43" name="Shape 43"/>
          <p:cNvCxnSpPr/>
          <p:nvPr/>
        </p:nvCxnSpPr>
        <p:spPr>
          <a:xfrm>
            <a:off x="294409" y="716437"/>
            <a:ext cx="8555182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4" name="Shape 44"/>
          <p:cNvSpPr txBox="1">
            <a:spLocks noGrp="1"/>
          </p:cNvSpPr>
          <p:nvPr>
            <p:ph type="sldNum" idx="12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82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Highlight">
  <p:cSld name="Content with Highligh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 txBox="1">
            <a:spLocks noGrp="1"/>
          </p:cNvSpPr>
          <p:nvPr>
            <p:ph type="title"/>
          </p:nvPr>
        </p:nvSpPr>
        <p:spPr>
          <a:xfrm>
            <a:off x="360364" y="228600"/>
            <a:ext cx="8426449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body" idx="1"/>
          </p:nvPr>
        </p:nvSpPr>
        <p:spPr>
          <a:xfrm>
            <a:off x="357188" y="1422400"/>
            <a:ext cx="8429625" cy="305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L="457200" marR="0" lvl="0" indent="-298450" algn="l" rtl="0">
              <a:lnSpc>
                <a:spcPct val="145454"/>
              </a:lnSpc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Shape 48"/>
          <p:cNvSpPr txBox="1">
            <a:spLocks noGrp="1"/>
          </p:cNvSpPr>
          <p:nvPr>
            <p:ph type="body" idx="2"/>
          </p:nvPr>
        </p:nvSpPr>
        <p:spPr>
          <a:xfrm>
            <a:off x="357188" y="1079500"/>
            <a:ext cx="84296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L="457200" marR="0" lvl="0" indent="-228600" algn="l" rtl="0">
              <a:lnSpc>
                <a:spcPct val="133333"/>
              </a:lnSpc>
              <a:spcBef>
                <a:spcPts val="288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49" name="Shape 49"/>
          <p:cNvCxnSpPr/>
          <p:nvPr/>
        </p:nvCxnSpPr>
        <p:spPr>
          <a:xfrm>
            <a:off x="294409" y="716437"/>
            <a:ext cx="8555182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0" name="Shape 50"/>
          <p:cNvSpPr txBox="1">
            <a:spLocks noGrp="1"/>
          </p:cNvSpPr>
          <p:nvPr>
            <p:ph type="sldNum" idx="12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82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 txBox="1">
            <a:spLocks noGrp="1"/>
          </p:cNvSpPr>
          <p:nvPr>
            <p:ph type="title"/>
          </p:nvPr>
        </p:nvSpPr>
        <p:spPr>
          <a:xfrm>
            <a:off x="360364" y="228600"/>
            <a:ext cx="8426449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3" name="Shape 53"/>
          <p:cNvSpPr txBox="1">
            <a:spLocks noGrp="1"/>
          </p:cNvSpPr>
          <p:nvPr>
            <p:ph type="body" idx="1"/>
          </p:nvPr>
        </p:nvSpPr>
        <p:spPr>
          <a:xfrm>
            <a:off x="357189" y="1422400"/>
            <a:ext cx="3986211" cy="305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L="457200" marR="0" lvl="0" indent="-298450" algn="l" rtl="0">
              <a:lnSpc>
                <a:spcPct val="145454"/>
              </a:lnSpc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Shape 54"/>
          <p:cNvSpPr txBox="1">
            <a:spLocks noGrp="1"/>
          </p:cNvSpPr>
          <p:nvPr>
            <p:ph type="body" idx="2"/>
          </p:nvPr>
        </p:nvSpPr>
        <p:spPr>
          <a:xfrm>
            <a:off x="357189" y="1079500"/>
            <a:ext cx="398621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L="457200" marR="0" lvl="0" indent="-228600" algn="l" rtl="0">
              <a:lnSpc>
                <a:spcPct val="133333"/>
              </a:lnSpc>
              <a:spcBef>
                <a:spcPts val="288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Shape 55"/>
          <p:cNvSpPr txBox="1">
            <a:spLocks noGrp="1"/>
          </p:cNvSpPr>
          <p:nvPr>
            <p:ph type="body" idx="3"/>
          </p:nvPr>
        </p:nvSpPr>
        <p:spPr>
          <a:xfrm>
            <a:off x="4800599" y="1422400"/>
            <a:ext cx="3993357" cy="305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L="457200" marR="0" lvl="0" indent="-298450" algn="l" rtl="0">
              <a:lnSpc>
                <a:spcPct val="145454"/>
              </a:lnSpc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Shape 56"/>
          <p:cNvSpPr txBox="1">
            <a:spLocks noGrp="1"/>
          </p:cNvSpPr>
          <p:nvPr>
            <p:ph type="body" idx="4"/>
          </p:nvPr>
        </p:nvSpPr>
        <p:spPr>
          <a:xfrm>
            <a:off x="4800597" y="1079500"/>
            <a:ext cx="399335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L="457200" marR="0" lvl="0" indent="-228600" algn="l" rtl="0">
              <a:lnSpc>
                <a:spcPct val="133333"/>
              </a:lnSpc>
              <a:spcBef>
                <a:spcPts val="288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57" name="Shape 57"/>
          <p:cNvCxnSpPr/>
          <p:nvPr/>
        </p:nvCxnSpPr>
        <p:spPr>
          <a:xfrm>
            <a:off x="294409" y="716437"/>
            <a:ext cx="8555182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8" name="Shape 58"/>
          <p:cNvSpPr txBox="1">
            <a:spLocks noGrp="1"/>
          </p:cNvSpPr>
          <p:nvPr>
            <p:ph type="sldNum" idx="12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82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Picture">
  <p:cSld name="Content and Picture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 txBox="1">
            <a:spLocks noGrp="1"/>
          </p:cNvSpPr>
          <p:nvPr>
            <p:ph type="title"/>
          </p:nvPr>
        </p:nvSpPr>
        <p:spPr>
          <a:xfrm>
            <a:off x="360364" y="228600"/>
            <a:ext cx="8426449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1" name="Shape 61"/>
          <p:cNvSpPr txBox="1">
            <a:spLocks noGrp="1"/>
          </p:cNvSpPr>
          <p:nvPr>
            <p:ph type="body" idx="1"/>
          </p:nvPr>
        </p:nvSpPr>
        <p:spPr>
          <a:xfrm>
            <a:off x="357189" y="1079500"/>
            <a:ext cx="3986211" cy="339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L="457200" marR="0" lvl="0" indent="-298450" algn="l" rtl="0">
              <a:lnSpc>
                <a:spcPct val="145454"/>
              </a:lnSpc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Shape 62"/>
          <p:cNvSpPr>
            <a:spLocks noGrp="1"/>
          </p:cNvSpPr>
          <p:nvPr>
            <p:ph type="pic" idx="2"/>
          </p:nvPr>
        </p:nvSpPr>
        <p:spPr>
          <a:xfrm>
            <a:off x="5334000" y="0"/>
            <a:ext cx="3810000" cy="481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/>
          <a:lstStyle>
            <a:lvl1pPr marR="0" lvl="0" algn="ctr" rtl="0">
              <a:lnSpc>
                <a:spcPct val="100000"/>
              </a:lnSpc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cxnSp>
        <p:nvCxnSpPr>
          <p:cNvPr id="63" name="Shape 63"/>
          <p:cNvCxnSpPr/>
          <p:nvPr/>
        </p:nvCxnSpPr>
        <p:spPr>
          <a:xfrm>
            <a:off x="294409" y="716437"/>
            <a:ext cx="4222029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4" name="Shape 64"/>
          <p:cNvSpPr txBox="1">
            <a:spLocks noGrp="1"/>
          </p:cNvSpPr>
          <p:nvPr>
            <p:ph type="sldNum" idx="12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82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extLst>
    <p:ext uri="{DCECCB84-F9BA-43D5-87BE-67443E8EF086}">
      <p15:sldGuideLst xmlns:p15="http://schemas.microsoft.com/office/powerpoint/2012/main">
        <p15:guide id="1" pos="336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Highlight and Picture">
  <p:cSld name="Content with Highlight and Picture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>
            <a:spLocks noGrp="1"/>
          </p:cNvSpPr>
          <p:nvPr>
            <p:ph type="title"/>
          </p:nvPr>
        </p:nvSpPr>
        <p:spPr>
          <a:xfrm>
            <a:off x="360364" y="228600"/>
            <a:ext cx="8426449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Shape 67"/>
          <p:cNvSpPr txBox="1">
            <a:spLocks noGrp="1"/>
          </p:cNvSpPr>
          <p:nvPr>
            <p:ph type="body" idx="1"/>
          </p:nvPr>
        </p:nvSpPr>
        <p:spPr>
          <a:xfrm>
            <a:off x="357189" y="1422400"/>
            <a:ext cx="3986212" cy="305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L="457200" marR="0" lvl="0" indent="-298450" algn="l" rtl="0">
              <a:lnSpc>
                <a:spcPct val="145454"/>
              </a:lnSpc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Shape 68"/>
          <p:cNvSpPr>
            <a:spLocks noGrp="1"/>
          </p:cNvSpPr>
          <p:nvPr>
            <p:ph type="pic" idx="2"/>
          </p:nvPr>
        </p:nvSpPr>
        <p:spPr>
          <a:xfrm>
            <a:off x="5334000" y="0"/>
            <a:ext cx="3810000" cy="481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/>
          <a:lstStyle>
            <a:lvl1pPr marR="0" lvl="0" algn="ctr" rtl="0">
              <a:lnSpc>
                <a:spcPct val="100000"/>
              </a:lnSpc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69" name="Shape 69"/>
          <p:cNvSpPr txBox="1">
            <a:spLocks noGrp="1"/>
          </p:cNvSpPr>
          <p:nvPr>
            <p:ph type="body" idx="3"/>
          </p:nvPr>
        </p:nvSpPr>
        <p:spPr>
          <a:xfrm>
            <a:off x="357189" y="1079500"/>
            <a:ext cx="398621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L="457200" marR="0" lvl="0" indent="-228600" algn="l" rtl="0">
              <a:lnSpc>
                <a:spcPct val="133333"/>
              </a:lnSpc>
              <a:spcBef>
                <a:spcPts val="288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70" name="Shape 70"/>
          <p:cNvCxnSpPr/>
          <p:nvPr/>
        </p:nvCxnSpPr>
        <p:spPr>
          <a:xfrm>
            <a:off x="294409" y="716437"/>
            <a:ext cx="4222029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1" name="Shape 71"/>
          <p:cNvSpPr txBox="1">
            <a:spLocks noGrp="1"/>
          </p:cNvSpPr>
          <p:nvPr>
            <p:ph type="sldNum" idx="12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82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extLst>
    <p:ext uri="{DCECCB84-F9BA-43D5-87BE-67443E8EF086}">
      <p15:sldGuideLst xmlns:p15="http://schemas.microsoft.com/office/powerpoint/2012/main">
        <p15:guide id="1" pos="336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st and Picture">
  <p:cSld name="List and Picture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 txBox="1">
            <a:spLocks noGrp="1"/>
          </p:cNvSpPr>
          <p:nvPr>
            <p:ph type="title"/>
          </p:nvPr>
        </p:nvSpPr>
        <p:spPr>
          <a:xfrm>
            <a:off x="360364" y="228600"/>
            <a:ext cx="8426449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4" name="Shape 74"/>
          <p:cNvSpPr>
            <a:spLocks noGrp="1"/>
          </p:cNvSpPr>
          <p:nvPr>
            <p:ph type="pic" idx="2"/>
          </p:nvPr>
        </p:nvSpPr>
        <p:spPr>
          <a:xfrm>
            <a:off x="5334000" y="0"/>
            <a:ext cx="3810000" cy="481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/>
          <a:lstStyle>
            <a:lvl1pPr marR="0" lvl="0" algn="ctr" rtl="0">
              <a:lnSpc>
                <a:spcPct val="100000"/>
              </a:lnSpc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cxnSp>
        <p:nvCxnSpPr>
          <p:cNvPr id="75" name="Shape 75"/>
          <p:cNvCxnSpPr/>
          <p:nvPr/>
        </p:nvCxnSpPr>
        <p:spPr>
          <a:xfrm>
            <a:off x="294409" y="716437"/>
            <a:ext cx="4222029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6" name="Shape 76"/>
          <p:cNvSpPr txBox="1">
            <a:spLocks noGrp="1"/>
          </p:cNvSpPr>
          <p:nvPr>
            <p:ph type="body" idx="1"/>
          </p:nvPr>
        </p:nvSpPr>
        <p:spPr>
          <a:xfrm>
            <a:off x="357188" y="1092491"/>
            <a:ext cx="356616" cy="356616"/>
          </a:xfrm>
          <a:prstGeom prst="rect">
            <a:avLst/>
          </a:prstGeom>
          <a:noFill/>
          <a:ln w="19050" cap="flat" cmpd="sng">
            <a:solidFill>
              <a:srgbClr val="F4F4F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/>
          <a:lstStyle>
            <a:lvl1pPr marL="457200" marR="0" lvl="0" indent="-228600" algn="ctr" rtl="0">
              <a:lnSpc>
                <a:spcPct val="114285"/>
              </a:lnSpc>
              <a:spcBef>
                <a:spcPts val="264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Shape 77"/>
          <p:cNvSpPr txBox="1">
            <a:spLocks noGrp="1"/>
          </p:cNvSpPr>
          <p:nvPr>
            <p:ph type="body" idx="3"/>
          </p:nvPr>
        </p:nvSpPr>
        <p:spPr>
          <a:xfrm>
            <a:off x="710972" y="1092491"/>
            <a:ext cx="3632428" cy="356616"/>
          </a:xfrm>
          <a:prstGeom prst="rect">
            <a:avLst/>
          </a:prstGeom>
          <a:noFill/>
          <a:ln w="19050" cap="flat" cmpd="sng">
            <a:solidFill>
              <a:srgbClr val="F5F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000" tIns="0" rIns="0" bIns="0" anchor="ctr" anchorCtr="0"/>
          <a:lstStyle>
            <a:lvl1pPr marL="457200" marR="0" lvl="0" indent="-228600" algn="l" rtl="0">
              <a:lnSpc>
                <a:spcPct val="145454"/>
              </a:lnSpc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8" name="Shape 78"/>
          <p:cNvSpPr txBox="1">
            <a:spLocks noGrp="1"/>
          </p:cNvSpPr>
          <p:nvPr>
            <p:ph type="body" idx="4"/>
          </p:nvPr>
        </p:nvSpPr>
        <p:spPr>
          <a:xfrm>
            <a:off x="357188" y="4120134"/>
            <a:ext cx="356616" cy="356616"/>
          </a:xfrm>
          <a:prstGeom prst="rect">
            <a:avLst/>
          </a:prstGeom>
          <a:noFill/>
          <a:ln w="19050" cap="flat" cmpd="sng">
            <a:solidFill>
              <a:srgbClr val="F4F4F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/>
          <a:lstStyle>
            <a:lvl1pPr marL="457200" marR="0" lvl="0" indent="-228600" algn="ctr" rtl="0">
              <a:lnSpc>
                <a:spcPct val="114285"/>
              </a:lnSpc>
              <a:spcBef>
                <a:spcPts val="264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type="body" idx="5"/>
          </p:nvPr>
        </p:nvSpPr>
        <p:spPr>
          <a:xfrm>
            <a:off x="357188" y="1698020"/>
            <a:ext cx="356616" cy="356616"/>
          </a:xfrm>
          <a:prstGeom prst="rect">
            <a:avLst/>
          </a:prstGeom>
          <a:noFill/>
          <a:ln w="19050" cap="flat" cmpd="sng">
            <a:solidFill>
              <a:srgbClr val="F4F4F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/>
          <a:lstStyle>
            <a:lvl1pPr marL="457200" marR="0" lvl="0" indent="-228600" algn="ctr" rtl="0">
              <a:lnSpc>
                <a:spcPct val="114285"/>
              </a:lnSpc>
              <a:spcBef>
                <a:spcPts val="264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Shape 80"/>
          <p:cNvSpPr txBox="1">
            <a:spLocks noGrp="1"/>
          </p:cNvSpPr>
          <p:nvPr>
            <p:ph type="body" idx="6"/>
          </p:nvPr>
        </p:nvSpPr>
        <p:spPr>
          <a:xfrm>
            <a:off x="357188" y="2303549"/>
            <a:ext cx="356616" cy="356616"/>
          </a:xfrm>
          <a:prstGeom prst="rect">
            <a:avLst/>
          </a:prstGeom>
          <a:noFill/>
          <a:ln w="19050" cap="flat" cmpd="sng">
            <a:solidFill>
              <a:srgbClr val="F4F4F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/>
          <a:lstStyle>
            <a:lvl1pPr marL="457200" marR="0" lvl="0" indent="-228600" algn="ctr" rtl="0">
              <a:lnSpc>
                <a:spcPct val="114285"/>
              </a:lnSpc>
              <a:spcBef>
                <a:spcPts val="264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Shape 81"/>
          <p:cNvSpPr txBox="1">
            <a:spLocks noGrp="1"/>
          </p:cNvSpPr>
          <p:nvPr>
            <p:ph type="body" idx="7"/>
          </p:nvPr>
        </p:nvSpPr>
        <p:spPr>
          <a:xfrm>
            <a:off x="357188" y="2909078"/>
            <a:ext cx="356616" cy="356616"/>
          </a:xfrm>
          <a:prstGeom prst="rect">
            <a:avLst/>
          </a:prstGeom>
          <a:noFill/>
          <a:ln w="19050" cap="flat" cmpd="sng">
            <a:solidFill>
              <a:srgbClr val="F4F4F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/>
          <a:lstStyle>
            <a:lvl1pPr marL="457200" marR="0" lvl="0" indent="-228600" algn="ctr" rtl="0">
              <a:lnSpc>
                <a:spcPct val="114285"/>
              </a:lnSpc>
              <a:spcBef>
                <a:spcPts val="264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Shape 82"/>
          <p:cNvSpPr txBox="1">
            <a:spLocks noGrp="1"/>
          </p:cNvSpPr>
          <p:nvPr>
            <p:ph type="body" idx="8"/>
          </p:nvPr>
        </p:nvSpPr>
        <p:spPr>
          <a:xfrm>
            <a:off x="357188" y="3514607"/>
            <a:ext cx="356616" cy="356616"/>
          </a:xfrm>
          <a:prstGeom prst="rect">
            <a:avLst/>
          </a:prstGeom>
          <a:noFill/>
          <a:ln w="19050" cap="flat" cmpd="sng">
            <a:solidFill>
              <a:srgbClr val="F4F4F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/>
          <a:lstStyle>
            <a:lvl1pPr marL="457200" marR="0" lvl="0" indent="-228600" algn="ctr" rtl="0">
              <a:lnSpc>
                <a:spcPct val="114285"/>
              </a:lnSpc>
              <a:spcBef>
                <a:spcPts val="264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Shape 83"/>
          <p:cNvSpPr txBox="1">
            <a:spLocks noGrp="1"/>
          </p:cNvSpPr>
          <p:nvPr>
            <p:ph type="body" idx="9"/>
          </p:nvPr>
        </p:nvSpPr>
        <p:spPr>
          <a:xfrm>
            <a:off x="710972" y="1697608"/>
            <a:ext cx="3632428" cy="356616"/>
          </a:xfrm>
          <a:prstGeom prst="rect">
            <a:avLst/>
          </a:prstGeom>
          <a:noFill/>
          <a:ln w="19050" cap="flat" cmpd="sng">
            <a:solidFill>
              <a:srgbClr val="F5F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000" tIns="0" rIns="0" bIns="0" anchor="ctr" anchorCtr="0"/>
          <a:lstStyle>
            <a:lvl1pPr marL="457200" marR="0" lvl="0" indent="-228600" algn="l" rtl="0">
              <a:lnSpc>
                <a:spcPct val="145454"/>
              </a:lnSpc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Shape 84"/>
          <p:cNvSpPr txBox="1">
            <a:spLocks noGrp="1"/>
          </p:cNvSpPr>
          <p:nvPr>
            <p:ph type="body" idx="13"/>
          </p:nvPr>
        </p:nvSpPr>
        <p:spPr>
          <a:xfrm>
            <a:off x="710972" y="2302725"/>
            <a:ext cx="3632428" cy="356616"/>
          </a:xfrm>
          <a:prstGeom prst="rect">
            <a:avLst/>
          </a:prstGeom>
          <a:noFill/>
          <a:ln w="19050" cap="flat" cmpd="sng">
            <a:solidFill>
              <a:srgbClr val="F5F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000" tIns="0" rIns="0" bIns="0" anchor="ctr" anchorCtr="0"/>
          <a:lstStyle>
            <a:lvl1pPr marL="457200" marR="0" lvl="0" indent="-228600" algn="l" rtl="0">
              <a:lnSpc>
                <a:spcPct val="145454"/>
              </a:lnSpc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Shape 85"/>
          <p:cNvSpPr txBox="1">
            <a:spLocks noGrp="1"/>
          </p:cNvSpPr>
          <p:nvPr>
            <p:ph type="body" idx="14"/>
          </p:nvPr>
        </p:nvSpPr>
        <p:spPr>
          <a:xfrm>
            <a:off x="710972" y="2907842"/>
            <a:ext cx="3632428" cy="356616"/>
          </a:xfrm>
          <a:prstGeom prst="rect">
            <a:avLst/>
          </a:prstGeom>
          <a:noFill/>
          <a:ln w="19050" cap="flat" cmpd="sng">
            <a:solidFill>
              <a:srgbClr val="F5F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000" tIns="0" rIns="0" bIns="0" anchor="ctr" anchorCtr="0"/>
          <a:lstStyle>
            <a:lvl1pPr marL="457200" marR="0" lvl="0" indent="-228600" algn="l" rtl="0">
              <a:lnSpc>
                <a:spcPct val="145454"/>
              </a:lnSpc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Shape 86"/>
          <p:cNvSpPr txBox="1">
            <a:spLocks noGrp="1"/>
          </p:cNvSpPr>
          <p:nvPr>
            <p:ph type="body" idx="15"/>
          </p:nvPr>
        </p:nvSpPr>
        <p:spPr>
          <a:xfrm>
            <a:off x="710972" y="3512959"/>
            <a:ext cx="3632428" cy="356616"/>
          </a:xfrm>
          <a:prstGeom prst="rect">
            <a:avLst/>
          </a:prstGeom>
          <a:noFill/>
          <a:ln w="19050" cap="flat" cmpd="sng">
            <a:solidFill>
              <a:srgbClr val="F5F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000" tIns="0" rIns="0" bIns="0" anchor="ctr" anchorCtr="0"/>
          <a:lstStyle>
            <a:lvl1pPr marL="457200" marR="0" lvl="0" indent="-228600" algn="l" rtl="0">
              <a:lnSpc>
                <a:spcPct val="145454"/>
              </a:lnSpc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Shape 87"/>
          <p:cNvSpPr txBox="1">
            <a:spLocks noGrp="1"/>
          </p:cNvSpPr>
          <p:nvPr>
            <p:ph type="body" idx="16"/>
          </p:nvPr>
        </p:nvSpPr>
        <p:spPr>
          <a:xfrm>
            <a:off x="710972" y="4118077"/>
            <a:ext cx="3632428" cy="356616"/>
          </a:xfrm>
          <a:prstGeom prst="rect">
            <a:avLst/>
          </a:prstGeom>
          <a:noFill/>
          <a:ln w="19050" cap="flat" cmpd="sng">
            <a:solidFill>
              <a:srgbClr val="F5F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000" tIns="0" rIns="0" bIns="0" anchor="ctr" anchorCtr="0"/>
          <a:lstStyle>
            <a:lvl1pPr marL="457200" marR="0" lvl="0" indent="-228600" algn="l" rtl="0">
              <a:lnSpc>
                <a:spcPct val="145454"/>
              </a:lnSpc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Shape 88"/>
          <p:cNvSpPr txBox="1">
            <a:spLocks noGrp="1"/>
          </p:cNvSpPr>
          <p:nvPr>
            <p:ph type="sldNum" idx="12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82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extLst>
    <p:ext uri="{DCECCB84-F9BA-43D5-87BE-67443E8EF086}">
      <p15:sldGuideLst xmlns:p15="http://schemas.microsoft.com/office/powerpoint/2012/main">
        <p15:guide id="1" pos="33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- EPAM Blue">
  <p:cSld name="Quote - EPAM Blue">
    <p:bg>
      <p:bgPr>
        <a:solidFill>
          <a:schemeClr val="accent1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 txBox="1">
            <a:spLocks noGrp="1"/>
          </p:cNvSpPr>
          <p:nvPr>
            <p:ph type="body" idx="1"/>
          </p:nvPr>
        </p:nvSpPr>
        <p:spPr>
          <a:xfrm>
            <a:off x="1780953" y="2098360"/>
            <a:ext cx="5582093" cy="587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/>
          <a:lstStyle>
            <a:lvl1pPr marL="457200" marR="0" lvl="0" indent="-228600" algn="ctr" rtl="0">
              <a:lnSpc>
                <a:spcPct val="100000"/>
              </a:lnSpc>
              <a:spcBef>
                <a:spcPts val="264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20" name="Shape 120"/>
          <p:cNvPicPr preferRelativeResize="0"/>
          <p:nvPr/>
        </p:nvPicPr>
        <p:blipFill rotWithShape="1">
          <a:blip r:embed="rId2">
            <a:alphaModFix amt="16000"/>
          </a:blip>
          <a:srcRect t="63049" r="42496"/>
          <a:stretch/>
        </p:blipFill>
        <p:spPr>
          <a:xfrm>
            <a:off x="1" y="-122440"/>
            <a:ext cx="1548202" cy="11874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Shape 121"/>
          <p:cNvPicPr preferRelativeResize="0"/>
          <p:nvPr/>
        </p:nvPicPr>
        <p:blipFill rotWithShape="1">
          <a:blip r:embed="rId2">
            <a:alphaModFix amt="16000"/>
          </a:blip>
          <a:srcRect t="63049" r="42496"/>
          <a:stretch/>
        </p:blipFill>
        <p:spPr>
          <a:xfrm rot="10800000">
            <a:off x="7595798" y="3681859"/>
            <a:ext cx="1548202" cy="1187447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Shape 122"/>
          <p:cNvSpPr txBox="1">
            <a:spLocks noGrp="1"/>
          </p:cNvSpPr>
          <p:nvPr>
            <p:ph type="sldNum" idx="12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82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extLst>
    <p:ext uri="{DCECCB84-F9BA-43D5-87BE-67443E8EF086}">
      <p15:sldGuideLst xmlns:p15="http://schemas.microsoft.com/office/powerpoint/2012/main">
        <p15:guide id="1" orient="horz" pos="152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/>
          <p:cNvSpPr txBox="1">
            <a:spLocks noGrp="1"/>
          </p:cNvSpPr>
          <p:nvPr>
            <p:ph type="title"/>
          </p:nvPr>
        </p:nvSpPr>
        <p:spPr>
          <a:xfrm>
            <a:off x="360364" y="228600"/>
            <a:ext cx="8426449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125" name="Shape 125"/>
          <p:cNvCxnSpPr/>
          <p:nvPr/>
        </p:nvCxnSpPr>
        <p:spPr>
          <a:xfrm>
            <a:off x="294409" y="716437"/>
            <a:ext cx="8555182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6" name="Shape 126"/>
          <p:cNvSpPr txBox="1">
            <a:spLocks noGrp="1"/>
          </p:cNvSpPr>
          <p:nvPr>
            <p:ph type="sldNum" idx="12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82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 on Color Canvas">
  <p:cSld name="Comparison on Color Canvas">
    <p:bg>
      <p:bgPr>
        <a:solidFill>
          <a:schemeClr val="accent3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140"/>
          <p:cNvSpPr txBox="1">
            <a:spLocks noGrp="1"/>
          </p:cNvSpPr>
          <p:nvPr>
            <p:ph type="title"/>
          </p:nvPr>
        </p:nvSpPr>
        <p:spPr>
          <a:xfrm>
            <a:off x="360364" y="228600"/>
            <a:ext cx="8426449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1" name="Shape 141"/>
          <p:cNvSpPr txBox="1">
            <a:spLocks noGrp="1"/>
          </p:cNvSpPr>
          <p:nvPr>
            <p:ph type="body" idx="1"/>
          </p:nvPr>
        </p:nvSpPr>
        <p:spPr>
          <a:xfrm>
            <a:off x="357189" y="1422400"/>
            <a:ext cx="3986211" cy="305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L="457200" marR="0" lvl="0" indent="-298450" algn="l" rtl="0">
              <a:lnSpc>
                <a:spcPct val="145454"/>
              </a:lnSpc>
              <a:spcBef>
                <a:spcPts val="264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2" name="Shape 142"/>
          <p:cNvSpPr txBox="1">
            <a:spLocks noGrp="1"/>
          </p:cNvSpPr>
          <p:nvPr>
            <p:ph type="body" idx="2"/>
          </p:nvPr>
        </p:nvSpPr>
        <p:spPr>
          <a:xfrm>
            <a:off x="357189" y="1079500"/>
            <a:ext cx="398621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L="457200" marR="0" lvl="0" indent="-228600" algn="l" rtl="0">
              <a:lnSpc>
                <a:spcPct val="133333"/>
              </a:lnSpc>
              <a:spcBef>
                <a:spcPts val="288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3" name="Shape 143"/>
          <p:cNvSpPr txBox="1">
            <a:spLocks noGrp="1"/>
          </p:cNvSpPr>
          <p:nvPr>
            <p:ph type="body" idx="3"/>
          </p:nvPr>
        </p:nvSpPr>
        <p:spPr>
          <a:xfrm>
            <a:off x="4800599" y="1422400"/>
            <a:ext cx="3993357" cy="305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L="457200" marR="0" lvl="0" indent="-298450" algn="l" rtl="0">
              <a:lnSpc>
                <a:spcPct val="145454"/>
              </a:lnSpc>
              <a:spcBef>
                <a:spcPts val="264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4" name="Shape 144"/>
          <p:cNvSpPr txBox="1">
            <a:spLocks noGrp="1"/>
          </p:cNvSpPr>
          <p:nvPr>
            <p:ph type="body" idx="4"/>
          </p:nvPr>
        </p:nvSpPr>
        <p:spPr>
          <a:xfrm>
            <a:off x="4800599" y="1079500"/>
            <a:ext cx="3986214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L="457200" marR="0" lvl="0" indent="-228600" algn="l" rtl="0">
              <a:lnSpc>
                <a:spcPct val="133333"/>
              </a:lnSpc>
              <a:spcBef>
                <a:spcPts val="288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45" name="Shape 145"/>
          <p:cNvCxnSpPr/>
          <p:nvPr/>
        </p:nvCxnSpPr>
        <p:spPr>
          <a:xfrm>
            <a:off x="294409" y="716437"/>
            <a:ext cx="8555182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6" name="Shape 146"/>
          <p:cNvSpPr txBox="1">
            <a:spLocks noGrp="1"/>
          </p:cNvSpPr>
          <p:nvPr>
            <p:ph type="sldNum" idx="12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82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1" i="0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1" i="0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1" i="0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1" i="0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1" i="0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1" i="0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1" i="0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1" i="0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1" i="0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title"/>
          </p:nvPr>
        </p:nvSpPr>
        <p:spPr>
          <a:xfrm>
            <a:off x="531466" y="1412416"/>
            <a:ext cx="4315968" cy="1421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sz="4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dt" idx="10"/>
          </p:nvPr>
        </p:nvSpPr>
        <p:spPr>
          <a:xfrm>
            <a:off x="625596" y="3843769"/>
            <a:ext cx="1945326" cy="399456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91425" rIns="182875" bIns="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336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/>
          <p:nvPr/>
        </p:nvSpPr>
        <p:spPr>
          <a:xfrm>
            <a:off x="0" y="4826639"/>
            <a:ext cx="9144000" cy="316862"/>
          </a:xfrm>
          <a:prstGeom prst="rect">
            <a:avLst/>
          </a:prstGeom>
          <a:solidFill>
            <a:srgbClr val="123B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360364" y="1079500"/>
            <a:ext cx="8426449" cy="339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L="457200" marR="0" lvl="0" indent="-298450" algn="l" rtl="0">
              <a:lnSpc>
                <a:spcPct val="145454"/>
              </a:lnSpc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1" name="Shape 31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60364" y="4911973"/>
            <a:ext cx="470910" cy="1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Shape 32"/>
          <p:cNvSpPr txBox="1">
            <a:spLocks noGrp="1"/>
          </p:cNvSpPr>
          <p:nvPr>
            <p:ph type="title"/>
          </p:nvPr>
        </p:nvSpPr>
        <p:spPr>
          <a:xfrm>
            <a:off x="360364" y="228600"/>
            <a:ext cx="8426449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sldNum" idx="12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82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62" r:id="rId7"/>
    <p:sldLayoutId id="2147483663" r:id="rId8"/>
    <p:sldLayoutId id="2147483666" r:id="rId9"/>
  </p:sldLayoutIdLst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">
          <p15:clr>
            <a:srgbClr val="F26B43"/>
          </p15:clr>
        </p15:guide>
        <p15:guide id="2" orient="horz" pos="338">
          <p15:clr>
            <a:srgbClr val="F26B43"/>
          </p15:clr>
        </p15:guide>
        <p15:guide id="3" orient="horz" pos="680">
          <p15:clr>
            <a:srgbClr val="F26B43"/>
          </p15:clr>
        </p15:guide>
        <p15:guide id="4" orient="horz" pos="2820">
          <p15:clr>
            <a:srgbClr val="F26B43"/>
          </p15:clr>
        </p15:guide>
        <p15:guide id="5" pos="226">
          <p15:clr>
            <a:srgbClr val="F26B43"/>
          </p15:clr>
        </p15:guide>
        <p15:guide id="6" pos="5535">
          <p15:clr>
            <a:srgbClr val="F26B43"/>
          </p15:clr>
        </p15:guide>
        <p15:guide id="7" orient="horz" pos="896">
          <p15:clr>
            <a:srgbClr val="F26B43"/>
          </p15:clr>
        </p15:guide>
        <p15:guide id="8" pos="2736">
          <p15:clr>
            <a:srgbClr val="F26B43"/>
          </p15:clr>
        </p15:guide>
        <p15:guide id="9" pos="3024">
          <p15:clr>
            <a:srgbClr val="F26B43"/>
          </p15:clr>
        </p15:guide>
        <p15:guide id="10" orient="horz" pos="3036">
          <p15:clr>
            <a:srgbClr val="F26B43"/>
          </p15:clr>
        </p15:guide>
        <p15:guide id="11" orient="horz" pos="3084">
          <p15:clr>
            <a:srgbClr val="F26B43"/>
          </p15:clr>
        </p15:guide>
        <p15:guide id="12" orient="horz" pos="31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resilience4j.readme.io/docs/circuitbreaker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resilience4j.readme.io/docs/retry" TargetMode="Externa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resilience4j.readme.io/docs/ratelimiter" TargetMode="External"/><Relationship Id="rId2" Type="http://schemas.openxmlformats.org/officeDocument/2006/relationships/hyperlink" Target="https://en.wikipedia.org/wiki/Denial-of-service_attack" TargetMode="Externa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resilience4j.readme.io/docs/timeout" TargetMode="Externa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resilience4j.readme.io/docs/bulkhead" TargetMode="Externa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quibase.org/get-started/quickstart" TargetMode="Externa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151"/>
          <p:cNvSpPr txBox="1">
            <a:spLocks noGrp="1"/>
          </p:cNvSpPr>
          <p:nvPr>
            <p:ph type="title"/>
          </p:nvPr>
        </p:nvSpPr>
        <p:spPr>
          <a:xfrm>
            <a:off x="386613" y="1926278"/>
            <a:ext cx="4710550" cy="645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buClr>
                <a:srgbClr val="000000"/>
              </a:buClr>
              <a:buSzPts val="1100"/>
            </a:pPr>
            <a:r>
              <a:rPr lang="en-US" sz="4000" dirty="0">
                <a:solidFill>
                  <a:schemeClr val="bg2"/>
                </a:solidFill>
              </a:rPr>
              <a:t>Resilience4j Circuit Breaker &amp; Flyway Patterns</a:t>
            </a:r>
            <a:endParaRPr sz="4000" dirty="0">
              <a:solidFill>
                <a:schemeClr val="bg2"/>
              </a:solidFill>
            </a:endParaRPr>
          </a:p>
        </p:txBody>
      </p:sp>
      <p:sp>
        <p:nvSpPr>
          <p:cNvPr id="152" name="Shape 152"/>
          <p:cNvSpPr txBox="1">
            <a:spLocks noGrp="1"/>
          </p:cNvSpPr>
          <p:nvPr>
            <p:ph type="body" idx="1"/>
          </p:nvPr>
        </p:nvSpPr>
        <p:spPr>
          <a:xfrm>
            <a:off x="271353" y="4255812"/>
            <a:ext cx="8552100" cy="3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By Rupesh Patil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endParaRPr lang="en-US" sz="1600" b="1" i="0" u="none" strike="noStrike" cap="none" dirty="0">
              <a:solidFill>
                <a:schemeClr val="bg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4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1400" dirty="0">
                <a:solidFill>
                  <a:schemeClr val="bg2"/>
                </a:solidFill>
              </a:rPr>
              <a:t>30</a:t>
            </a:r>
            <a:r>
              <a:rPr lang="en-US" sz="1400" b="1" i="0" u="none" strike="noStrike" cap="none" baseline="30000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US" sz="14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 Nov 2022)</a:t>
            </a:r>
            <a:endParaRPr sz="1400" b="1" i="0" u="none" strike="noStrike" cap="none" dirty="0">
              <a:solidFill>
                <a:schemeClr val="bg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Shape 152">
            <a:extLst>
              <a:ext uri="{FF2B5EF4-FFF2-40B4-BE49-F238E27FC236}">
                <a16:creationId xmlns:a16="http://schemas.microsoft.com/office/drawing/2014/main" id="{3689A8F5-9661-4010-AC6D-110053E056E1}"/>
              </a:ext>
            </a:extLst>
          </p:cNvPr>
          <p:cNvSpPr txBox="1">
            <a:spLocks/>
          </p:cNvSpPr>
          <p:nvPr/>
        </p:nvSpPr>
        <p:spPr>
          <a:xfrm>
            <a:off x="531474" y="4637758"/>
            <a:ext cx="8552100" cy="3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endParaRPr lang="en-US" dirty="0"/>
          </a:p>
        </p:txBody>
      </p:sp>
      <p:pic>
        <p:nvPicPr>
          <p:cNvPr id="1032" name="Picture 8" descr="Spring Boot Logo Transparent &amp; PNG Clipart Free Download - YAW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8623" y="191942"/>
            <a:ext cx="2274023" cy="1544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4000" dirty="0">
                <a:solidFill>
                  <a:schemeClr val="bg1"/>
                </a:solidFill>
              </a:rPr>
              <a:t>Agenda</a:t>
            </a:r>
            <a:endParaRPr sz="4800" dirty="0">
              <a:solidFill>
                <a:schemeClr val="bg1"/>
              </a:solidFill>
            </a:endParaRPr>
          </a:p>
        </p:txBody>
      </p:sp>
      <p:sp>
        <p:nvSpPr>
          <p:cNvPr id="158" name="Shape 158"/>
          <p:cNvSpPr txBox="1">
            <a:spLocks noGrp="1"/>
          </p:cNvSpPr>
          <p:nvPr>
            <p:ph type="body" idx="1"/>
          </p:nvPr>
        </p:nvSpPr>
        <p:spPr>
          <a:xfrm>
            <a:off x="357187" y="822192"/>
            <a:ext cx="8110617" cy="3654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984250" lvl="2" indent="0">
              <a:spcBef>
                <a:spcPts val="0"/>
              </a:spcBef>
              <a:buClr>
                <a:srgbClr val="FFFFFF"/>
              </a:buClr>
              <a:buSzPts val="2500"/>
              <a:buNone/>
            </a:pPr>
            <a:endParaRPr lang="en-US" sz="1600" b="1" dirty="0">
              <a:solidFill>
                <a:schemeClr val="bg2"/>
              </a:solidFill>
            </a:endParaRPr>
          </a:p>
          <a:p>
            <a:pPr marL="812800" lvl="1" indent="-285750">
              <a:lnSpc>
                <a:spcPct val="150000"/>
              </a:lnSpc>
              <a:spcBef>
                <a:spcPts val="0"/>
              </a:spcBef>
              <a:buClr>
                <a:srgbClr val="FFFFFF"/>
              </a:buClr>
              <a:buSzPts val="2500"/>
            </a:pPr>
            <a:r>
              <a:rPr lang="en-US" sz="1600" b="1" dirty="0">
                <a:solidFill>
                  <a:schemeClr val="bg2"/>
                </a:solidFill>
              </a:rPr>
              <a:t>Microservice architecture Intro</a:t>
            </a:r>
          </a:p>
          <a:p>
            <a:pPr marL="812800" lvl="1" indent="-285750">
              <a:lnSpc>
                <a:spcPct val="150000"/>
              </a:lnSpc>
              <a:spcBef>
                <a:spcPts val="0"/>
              </a:spcBef>
              <a:buClr>
                <a:srgbClr val="FFFFFF"/>
              </a:buClr>
              <a:buSzPts val="2500"/>
            </a:pPr>
            <a:r>
              <a:rPr lang="en-US" sz="1600" b="1" dirty="0">
                <a:solidFill>
                  <a:schemeClr val="bg2"/>
                </a:solidFill>
              </a:rPr>
              <a:t>What is Circuit Breaker?</a:t>
            </a:r>
          </a:p>
          <a:p>
            <a:pPr marL="812800" lvl="1" indent="-285750">
              <a:lnSpc>
                <a:spcPct val="150000"/>
              </a:lnSpc>
              <a:spcBef>
                <a:spcPts val="0"/>
              </a:spcBef>
              <a:buClr>
                <a:srgbClr val="FFFFFF"/>
              </a:buClr>
              <a:buSzPts val="2500"/>
            </a:pPr>
            <a:r>
              <a:rPr lang="en-US" sz="1600" b="1" dirty="0">
                <a:solidFill>
                  <a:schemeClr val="bg2"/>
                </a:solidFill>
              </a:rPr>
              <a:t>Circuit Breaker State</a:t>
            </a:r>
          </a:p>
          <a:p>
            <a:pPr marL="812800" lvl="1" indent="-285750">
              <a:lnSpc>
                <a:spcPct val="150000"/>
              </a:lnSpc>
              <a:spcBef>
                <a:spcPts val="0"/>
              </a:spcBef>
              <a:buClr>
                <a:srgbClr val="FFFFFF"/>
              </a:buClr>
              <a:buSzPts val="2500"/>
            </a:pPr>
            <a:r>
              <a:rPr lang="en-US" sz="1600" b="1" dirty="0">
                <a:solidFill>
                  <a:schemeClr val="bg2"/>
                </a:solidFill>
              </a:rPr>
              <a:t>Circuit Breaker Type</a:t>
            </a:r>
          </a:p>
          <a:p>
            <a:pPr marL="812800" lvl="1" indent="-285750">
              <a:lnSpc>
                <a:spcPct val="150000"/>
              </a:lnSpc>
              <a:spcBef>
                <a:spcPts val="0"/>
              </a:spcBef>
              <a:buClr>
                <a:srgbClr val="FFFFFF"/>
              </a:buClr>
              <a:buSzPts val="2500"/>
            </a:pPr>
            <a:r>
              <a:rPr lang="en-US" sz="1600" b="1" dirty="0">
                <a:solidFill>
                  <a:schemeClr val="bg2"/>
                </a:solidFill>
              </a:rPr>
              <a:t>Retires, Rate Limiter, Time Limiter and Bulkhead</a:t>
            </a:r>
          </a:p>
          <a:p>
            <a:pPr marL="812800" lvl="1" indent="-285750">
              <a:lnSpc>
                <a:spcPct val="150000"/>
              </a:lnSpc>
              <a:spcBef>
                <a:spcPts val="0"/>
              </a:spcBef>
              <a:buClr>
                <a:srgbClr val="FFFFFF"/>
              </a:buClr>
              <a:buSzPts val="2500"/>
            </a:pPr>
            <a:r>
              <a:rPr lang="en-US" sz="1600" b="1" dirty="0">
                <a:solidFill>
                  <a:schemeClr val="bg2"/>
                </a:solidFill>
              </a:rPr>
              <a:t>Resilience4j Implementation</a:t>
            </a:r>
          </a:p>
          <a:p>
            <a:pPr marL="812800" lvl="1" indent="-285750">
              <a:lnSpc>
                <a:spcPct val="150000"/>
              </a:lnSpc>
              <a:spcBef>
                <a:spcPts val="0"/>
              </a:spcBef>
              <a:buClr>
                <a:srgbClr val="FFFFFF"/>
              </a:buClr>
              <a:buSzPts val="2500"/>
            </a:pPr>
            <a:r>
              <a:rPr lang="en-US" sz="1600" b="1" dirty="0">
                <a:solidFill>
                  <a:schemeClr val="bg2"/>
                </a:solidFill>
              </a:rPr>
              <a:t>Database-migration tool - Flyway</a:t>
            </a:r>
          </a:p>
          <a:p>
            <a:pPr marL="812800" lvl="1" indent="-285750">
              <a:lnSpc>
                <a:spcPct val="150000"/>
              </a:lnSpc>
              <a:spcBef>
                <a:spcPts val="0"/>
              </a:spcBef>
              <a:buClr>
                <a:srgbClr val="FFFFFF"/>
              </a:buClr>
              <a:buSzPts val="2500"/>
            </a:pPr>
            <a:r>
              <a:rPr lang="en-US" sz="1600" b="1" dirty="0">
                <a:solidFill>
                  <a:schemeClr val="bg2"/>
                </a:solidFill>
              </a:rPr>
              <a:t>Q &amp; A</a:t>
            </a:r>
          </a:p>
          <a:p>
            <a:pPr marL="1270000" lvl="2" indent="-285750">
              <a:spcBef>
                <a:spcPts val="0"/>
              </a:spcBef>
              <a:buClr>
                <a:srgbClr val="FFFFFF"/>
              </a:buClr>
              <a:buSzPts val="2500"/>
            </a:pPr>
            <a:endParaRPr lang="en-US" sz="1600" b="1" dirty="0">
              <a:solidFill>
                <a:srgbClr val="FFFFFF"/>
              </a:solidFill>
            </a:endParaRPr>
          </a:p>
          <a:p>
            <a:pPr marL="1270000" lvl="2" indent="-285750">
              <a:spcBef>
                <a:spcPts val="0"/>
              </a:spcBef>
              <a:buClr>
                <a:srgbClr val="FFFFFF"/>
              </a:buClr>
              <a:buSzPts val="2500"/>
            </a:pPr>
            <a:endParaRPr lang="en-US" sz="1600" b="1" dirty="0">
              <a:solidFill>
                <a:srgbClr val="FFFFFF"/>
              </a:solidFill>
            </a:endParaRPr>
          </a:p>
          <a:p>
            <a:pPr marL="1270000" lvl="2" indent="-285750">
              <a:spcBef>
                <a:spcPts val="0"/>
              </a:spcBef>
              <a:buClr>
                <a:srgbClr val="FFFFFF"/>
              </a:buClr>
              <a:buSzPts val="2500"/>
            </a:pPr>
            <a:endParaRPr lang="en-US" sz="1600" b="1" dirty="0">
              <a:solidFill>
                <a:srgbClr val="FFFFFF"/>
              </a:solidFill>
            </a:endParaRPr>
          </a:p>
          <a:p>
            <a:pPr marL="812800" lvl="1" indent="-285750">
              <a:spcBef>
                <a:spcPts val="0"/>
              </a:spcBef>
              <a:buClr>
                <a:srgbClr val="FFFFFF"/>
              </a:buClr>
              <a:buSzPts val="2500"/>
            </a:pPr>
            <a:endParaRPr lang="en-US" sz="1600" b="1" dirty="0">
              <a:solidFill>
                <a:srgbClr val="FFFFFF"/>
              </a:solidFill>
            </a:endParaRPr>
          </a:p>
          <a:p>
            <a:pPr indent="-387350">
              <a:spcBef>
                <a:spcPts val="0"/>
              </a:spcBef>
              <a:buClr>
                <a:srgbClr val="FFFFFF"/>
              </a:buClr>
              <a:buSzPts val="2500"/>
            </a:pPr>
            <a:endParaRPr lang="en-US" sz="16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804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Microservice Architecture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97282" y="949966"/>
            <a:ext cx="392872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If Microservice C is unavailable it impacts the Microservice B and Microservice A. – Domino Effect</a:t>
            </a:r>
          </a:p>
          <a:p>
            <a:pPr marL="285750" indent="-285750">
              <a:buFontTx/>
              <a:buChar char="-"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The service which is waiting for another service is just wasting its resources.</a:t>
            </a:r>
          </a:p>
          <a:p>
            <a:pPr marL="285750" indent="-285750">
              <a:buFontTx/>
              <a:buChar char="-"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In case of third party or external services, nothing to do except wait for their reply. </a:t>
            </a:r>
          </a:p>
          <a:p>
            <a:pPr marL="285750" indent="-285750">
              <a:buFontTx/>
              <a:buChar char="-"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What can be done to prevent domino effect if the services are in our scope? </a:t>
            </a:r>
          </a:p>
          <a:p>
            <a:pPr marL="285750" indent="-285750">
              <a:buFontTx/>
              <a:buChar char="-"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FF22A7F-0538-4FD1-9BBD-A3C533636D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6003" y="949966"/>
            <a:ext cx="4254074" cy="3206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5815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Circuit Breaker?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89599" y="794766"/>
            <a:ext cx="4873856" cy="3801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-</a:t>
            </a: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 Original idea comes from electronic engineering where it comes in a form of automatic switch that designed to protected electrical circuit from damage by excess of current in the circuit.</a:t>
            </a:r>
          </a:p>
          <a:p>
            <a:endParaRPr lang="en-US" sz="15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- The concept of a circuit breaker is to prevent calls to microservice when it’s known the call may fail or time out.</a:t>
            </a:r>
          </a:p>
          <a:p>
            <a:endParaRPr lang="en-US" sz="1600" dirty="0"/>
          </a:p>
          <a:p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- This is done so that clients don’t waste their valuable resources handling requests that are likely to fail. </a:t>
            </a:r>
          </a:p>
          <a:p>
            <a:endParaRPr lang="en-US" sz="15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- Using this concept, we can give the server some spare time to recover.</a:t>
            </a:r>
          </a:p>
          <a:p>
            <a:endParaRPr lang="en-US" sz="15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- How do we know if a request is likely to fail? By Recording the results of several previous requests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C11B862A-A7F7-413E-9384-C17B87E5E6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3606" y="1060551"/>
            <a:ext cx="3363207" cy="3363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4039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Circuit Breaker State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97282" y="1088279"/>
            <a:ext cx="493532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- </a:t>
            </a:r>
            <a:r>
              <a:rPr lang="en-US" sz="1500" b="1" dirty="0"/>
              <a:t>Closed</a:t>
            </a:r>
            <a:r>
              <a:rPr lang="en-US" sz="1500" dirty="0"/>
              <a:t>: when everything is normal. Initially, the circuit breaker is in a Closed state.</a:t>
            </a:r>
          </a:p>
          <a:p>
            <a:endParaRPr lang="en-US" sz="1500" dirty="0"/>
          </a:p>
          <a:p>
            <a:r>
              <a:rPr lang="en-US" sz="1500" dirty="0"/>
              <a:t>- </a:t>
            </a:r>
            <a:r>
              <a:rPr lang="en-US" sz="1500" b="1" dirty="0"/>
              <a:t>Open</a:t>
            </a:r>
            <a:r>
              <a:rPr lang="en-US" sz="1500" dirty="0"/>
              <a:t>: when a failure occurs. In this state fail-fast or fallback will be performed if available</a:t>
            </a:r>
          </a:p>
          <a:p>
            <a:r>
              <a:rPr lang="en-US" sz="1500" dirty="0"/>
              <a:t>        When this state has passed a certain time limit will be moved to next state.</a:t>
            </a:r>
          </a:p>
          <a:p>
            <a:endParaRPr lang="en-US" sz="1500" dirty="0"/>
          </a:p>
          <a:p>
            <a:r>
              <a:rPr lang="en-US" sz="1500" dirty="0"/>
              <a:t>-</a:t>
            </a:r>
            <a:r>
              <a:rPr lang="en-US" sz="1500" b="1" dirty="0"/>
              <a:t> Half-Open</a:t>
            </a:r>
            <a:r>
              <a:rPr lang="en-US" sz="1500" dirty="0"/>
              <a:t>: several requests will be executed to find out whether the microservices that we are calling are working normally.</a:t>
            </a:r>
          </a:p>
          <a:p>
            <a:r>
              <a:rPr lang="en-US" sz="1500" dirty="0"/>
              <a:t>        If successful, the state will be returned to the Closed state. However, if it still fails it will be returned to the Open state.</a:t>
            </a:r>
          </a:p>
          <a:p>
            <a:endParaRPr lang="en-US" sz="1500" dirty="0"/>
          </a:p>
          <a:p>
            <a:endParaRPr lang="en-US" sz="15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2259E5E-E856-4EB0-A2B3-913A035903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6614" y="756757"/>
            <a:ext cx="3772862" cy="3761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6642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Circuit Breaker Type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97283" y="949966"/>
            <a:ext cx="8289530" cy="309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500" b="1" dirty="0"/>
              <a:t>Count-based: </a:t>
            </a:r>
            <a:r>
              <a:rPr lang="en-US" sz="1500" dirty="0"/>
              <a:t>the circuit breaker switches from a closed state to an open state when the last N requests have failed or timeout</a:t>
            </a:r>
          </a:p>
          <a:p>
            <a:pPr marL="285750" indent="-285750">
              <a:buFontTx/>
              <a:buChar char="-"/>
            </a:pPr>
            <a:endParaRPr lang="en-US" sz="1500" dirty="0"/>
          </a:p>
          <a:p>
            <a:pPr marL="285750" indent="-285750">
              <a:buFontTx/>
              <a:buChar char="-"/>
            </a:pPr>
            <a:r>
              <a:rPr lang="en-US" sz="1500" b="1" dirty="0"/>
              <a:t>Time-based: </a:t>
            </a:r>
            <a:r>
              <a:rPr lang="en-US" sz="1500" dirty="0"/>
              <a:t>the circuit breaker switches from a closed state to an open state when the last N time unit has failed or timeout.</a:t>
            </a:r>
          </a:p>
          <a:p>
            <a:pPr marL="285750" indent="-285750">
              <a:buFontTx/>
              <a:buChar char="-"/>
            </a:pPr>
            <a:endParaRPr lang="en-US" sz="1500" dirty="0"/>
          </a:p>
          <a:p>
            <a:pPr marL="285750" indent="-285750">
              <a:buFontTx/>
              <a:buChar char="-"/>
            </a:pPr>
            <a:r>
              <a:rPr lang="en-US" sz="1500" dirty="0"/>
              <a:t>In both types of circuit breakers, we can determine what the threshold for failure or timeout is</a:t>
            </a:r>
          </a:p>
          <a:p>
            <a:pPr marL="285750" indent="-285750">
              <a:buFontTx/>
              <a:buChar char="-"/>
            </a:pPr>
            <a:endParaRPr lang="en-US" sz="1500" dirty="0"/>
          </a:p>
          <a:p>
            <a:pPr marL="285750" indent="-285750">
              <a:buFontTx/>
              <a:buChar char="-"/>
            </a:pPr>
            <a:r>
              <a:rPr lang="en-US" sz="1500" dirty="0"/>
              <a:t>Suppose we specify that the circuit breaker will trip and go to the Open state when 50% of the last 20 requests took more than 2s</a:t>
            </a:r>
          </a:p>
          <a:p>
            <a:pPr marL="285750" indent="-285750">
              <a:buFontTx/>
              <a:buChar char="-"/>
            </a:pPr>
            <a:endParaRPr lang="en-US" sz="1500" dirty="0"/>
          </a:p>
          <a:p>
            <a:pPr marL="285750" indent="-285750">
              <a:buFontTx/>
              <a:buChar char="-"/>
            </a:pPr>
            <a:r>
              <a:rPr lang="en-US" sz="1500" dirty="0"/>
              <a:t>For a time-based, we can specify that 50% of the last 60 seconds of requests took more than 5s.</a:t>
            </a:r>
          </a:p>
        </p:txBody>
      </p:sp>
    </p:spTree>
    <p:extLst>
      <p:ext uri="{BB962C8B-B14F-4D97-AF65-F5344CB8AC3E}">
        <p14:creationId xmlns:p14="http://schemas.microsoft.com/office/powerpoint/2010/main" val="1122710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Resilience4j CB </a:t>
            </a:r>
            <a:r>
              <a:rPr lang="en-US" dirty="0"/>
              <a:t>Implementation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97283" y="949966"/>
            <a:ext cx="75479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500" b="1" dirty="0"/>
              <a:t>Resilience4j</a:t>
            </a:r>
            <a:r>
              <a:rPr lang="en-US" sz="1500" dirty="0"/>
              <a:t> is a lightweight fault tolerance library inspired by Netflix Hystrix but designed for functional programming.</a:t>
            </a:r>
          </a:p>
          <a:p>
            <a:pPr marL="285750" indent="-285750">
              <a:buFontTx/>
              <a:buChar char="-"/>
            </a:pPr>
            <a:endParaRPr lang="en-US" sz="1500" dirty="0"/>
          </a:p>
          <a:p>
            <a:pPr marL="285750" indent="-285750">
              <a:buFontTx/>
              <a:buChar char="-"/>
            </a:pPr>
            <a:r>
              <a:rPr lang="en-US" sz="1500" b="1" dirty="0"/>
              <a:t>Features</a:t>
            </a:r>
            <a:r>
              <a:rPr lang="en-US" sz="1500" dirty="0"/>
              <a:t>:</a:t>
            </a:r>
          </a:p>
          <a:p>
            <a:r>
              <a:rPr lang="en-US" dirty="0"/>
              <a:t>        - Circuit Breaker (Fault Tolerance)</a:t>
            </a:r>
          </a:p>
          <a:p>
            <a:r>
              <a:rPr lang="en-US" dirty="0"/>
              <a:t>        - Rate Limiter (Block too frequent requests)</a:t>
            </a:r>
          </a:p>
          <a:p>
            <a:r>
              <a:rPr lang="en-US" dirty="0"/>
              <a:t>        - Time Limiter (Set time limit when calling remote operation)</a:t>
            </a:r>
          </a:p>
          <a:p>
            <a:r>
              <a:rPr lang="en-US" dirty="0"/>
              <a:t>        - Retry Mechanism (Automatically retry failed operation)</a:t>
            </a:r>
          </a:p>
          <a:p>
            <a:r>
              <a:rPr lang="en-US" dirty="0"/>
              <a:t>        - Bulkhead (Avoid too many concurrent requests)</a:t>
            </a:r>
          </a:p>
          <a:p>
            <a:r>
              <a:rPr lang="en-US" sz="1500" dirty="0"/>
              <a:t>       - Cache (Store results of costly remote operations)</a:t>
            </a:r>
          </a:p>
          <a:p>
            <a:pPr marL="285750" indent="-285750">
              <a:buFontTx/>
              <a:buChar char="-"/>
            </a:pPr>
            <a:endParaRPr lang="en-US" sz="1500" dirty="0"/>
          </a:p>
          <a:p>
            <a:pPr marL="285750" indent="-285750">
              <a:buFontTx/>
              <a:buChar char="-"/>
            </a:pPr>
            <a:r>
              <a:rPr lang="en-US" sz="1500" dirty="0"/>
              <a:t>Add Dependencies and </a:t>
            </a:r>
            <a:r>
              <a:rPr lang="en-US" sz="1500" dirty="0" err="1"/>
              <a:t>application.yml</a:t>
            </a:r>
            <a:r>
              <a:rPr lang="en-US" sz="1500" dirty="0"/>
              <a:t> file to define configurations.</a:t>
            </a:r>
          </a:p>
          <a:p>
            <a:pPr marL="285750" indent="-285750">
              <a:buFontTx/>
              <a:buChar char="-"/>
            </a:pPr>
            <a:endParaRPr lang="en-US" sz="1500" b="1" dirty="0"/>
          </a:p>
          <a:p>
            <a:pPr marL="285750" indent="-285750">
              <a:buFontTx/>
              <a:buChar char="-"/>
            </a:pPr>
            <a:endParaRPr lang="en-US" sz="1500" dirty="0"/>
          </a:p>
          <a:p>
            <a:pPr marL="285750" indent="-285750">
              <a:buFontTx/>
              <a:buChar char="-"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753348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Resilience4j Circuit Breaker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 dirty="0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FB614B84-D882-4ED6-858A-775DBD1AC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10" y="919545"/>
            <a:ext cx="5932073" cy="35179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13315E4-92F2-48A4-ACEF-2D2E038997C5}"/>
              </a:ext>
            </a:extLst>
          </p:cNvPr>
          <p:cNvSpPr txBox="1"/>
          <p:nvPr/>
        </p:nvSpPr>
        <p:spPr>
          <a:xfrm>
            <a:off x="6608269" y="1644383"/>
            <a:ext cx="17596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https://resilience4j.readme.io/docs/circuitbreaker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32210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Resilience4j Retry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 dirty="0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C80B5CC3-CFE0-46BE-8DF4-7F6BA49CA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723" y="1081470"/>
            <a:ext cx="5405838" cy="31940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7E8954E-A1DB-47DE-9CB5-919890DCBA3F}"/>
              </a:ext>
            </a:extLst>
          </p:cNvPr>
          <p:cNvSpPr txBox="1"/>
          <p:nvPr/>
        </p:nvSpPr>
        <p:spPr>
          <a:xfrm>
            <a:off x="6439220" y="1467650"/>
            <a:ext cx="2574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https://resilience4j.readme.io/docs/retry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2709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Resilience4j Rate Limiter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9FBE4C-C91E-4622-88D3-A7A47769C790}"/>
              </a:ext>
            </a:extLst>
          </p:cNvPr>
          <p:cNvSpPr txBox="1"/>
          <p:nvPr/>
        </p:nvSpPr>
        <p:spPr>
          <a:xfrm>
            <a:off x="497283" y="949966"/>
            <a:ext cx="4197662" cy="423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Limit the number of requests sent from the client application you are developing to an external service.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Not only it is important to limit the load, but it also helps to eliminate the security concerns against malicious attacks (e.g., </a:t>
            </a:r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DoS or DDoS</a:t>
            </a:r>
            <a:r>
              <a:rPr lang="en-US" dirty="0"/>
              <a:t>)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lvl="1" indent="-285750">
              <a:buFontTx/>
              <a:buChar char="-"/>
            </a:pPr>
            <a:r>
              <a:rPr lang="en-US" b="1" dirty="0"/>
              <a:t> a) </a:t>
            </a:r>
            <a:r>
              <a:rPr lang="en-US" b="1" i="1" dirty="0" err="1">
                <a:solidFill>
                  <a:srgbClr val="292929"/>
                </a:solidFill>
                <a:latin typeface="source-serif-pro"/>
              </a:rPr>
              <a:t>limitRefreshPeriod</a:t>
            </a:r>
            <a:r>
              <a:rPr lang="en-US" b="1" dirty="0"/>
              <a:t>: </a:t>
            </a:r>
            <a:r>
              <a:rPr lang="en-US" i="1" dirty="0">
                <a:solidFill>
                  <a:srgbClr val="292929"/>
                </a:solidFill>
                <a:latin typeface="source-serif-pro"/>
              </a:rPr>
              <a:t>After each period the rate limiter sets its permissions count back to the </a:t>
            </a:r>
            <a:r>
              <a:rPr lang="en-US" i="1" dirty="0" err="1">
                <a:solidFill>
                  <a:srgbClr val="292929"/>
                </a:solidFill>
                <a:latin typeface="source-serif-pro"/>
              </a:rPr>
              <a:t>limitForPeriod</a:t>
            </a:r>
            <a:r>
              <a:rPr lang="en-US" i="1" dirty="0">
                <a:solidFill>
                  <a:srgbClr val="292929"/>
                </a:solidFill>
                <a:latin typeface="source-serif-pro"/>
              </a:rPr>
              <a:t> value.</a:t>
            </a:r>
          </a:p>
          <a:p>
            <a:pPr marL="285750" lvl="4" indent="-285750">
              <a:buFontTx/>
              <a:buChar char="-"/>
            </a:pPr>
            <a:r>
              <a:rPr lang="en-US" b="1" dirty="0"/>
              <a:t> b) </a:t>
            </a:r>
            <a:r>
              <a:rPr lang="en-US" b="1" i="1" dirty="0" err="1">
                <a:solidFill>
                  <a:srgbClr val="292929"/>
                </a:solidFill>
                <a:latin typeface="source-serif-pro"/>
              </a:rPr>
              <a:t>limitForPeriod</a:t>
            </a:r>
            <a:r>
              <a:rPr lang="en-US" b="1" dirty="0"/>
              <a:t>: </a:t>
            </a:r>
            <a:r>
              <a:rPr lang="en-US" i="1" dirty="0">
                <a:solidFill>
                  <a:srgbClr val="292929"/>
                </a:solidFill>
                <a:latin typeface="source-serif-pro"/>
              </a:rPr>
              <a:t>The number of permissions available during one limit refresh period</a:t>
            </a:r>
          </a:p>
          <a:p>
            <a:pPr marL="285750" lvl="4" indent="-285750">
              <a:buFontTx/>
              <a:buChar char="-"/>
            </a:pPr>
            <a:r>
              <a:rPr lang="en-US" dirty="0"/>
              <a:t> c) </a:t>
            </a:r>
            <a:r>
              <a:rPr lang="en-US" b="1" i="1" dirty="0" err="1">
                <a:solidFill>
                  <a:srgbClr val="292929"/>
                </a:solidFill>
                <a:effectLst/>
                <a:latin typeface="source-serif-pro"/>
              </a:rPr>
              <a:t>timeoutDuration</a:t>
            </a:r>
            <a:r>
              <a:rPr lang="en-US" b="0" i="1" dirty="0">
                <a:solidFill>
                  <a:srgbClr val="292929"/>
                </a:solidFill>
                <a:effectLst/>
                <a:latin typeface="source-serif-pro"/>
              </a:rPr>
              <a:t>: The default wait time a thread waits for a permission</a:t>
            </a:r>
            <a:r>
              <a:rPr lang="en-US" dirty="0"/>
              <a:t> </a:t>
            </a:r>
          </a:p>
          <a:p>
            <a:pPr marL="285750" indent="-285750">
              <a:buFontTx/>
              <a:buChar char="-"/>
            </a:pPr>
            <a:endParaRPr lang="en-US" sz="1500" b="1" dirty="0"/>
          </a:p>
          <a:p>
            <a:pPr marL="285750" indent="-285750">
              <a:buFontTx/>
              <a:buChar char="-"/>
            </a:pPr>
            <a:r>
              <a:rPr lang="en-US" dirty="0">
                <a:hlinkClick r:id="rId3"/>
              </a:rPr>
              <a:t>https://resilience4j.readme.io/docs/ratelimiter</a:t>
            </a:r>
            <a:r>
              <a:rPr lang="en-US" dirty="0"/>
              <a:t> </a:t>
            </a:r>
          </a:p>
          <a:p>
            <a:endParaRPr lang="en-US" sz="1500" dirty="0"/>
          </a:p>
          <a:p>
            <a:pPr marL="285750" indent="-285750">
              <a:buFontTx/>
              <a:buChar char="-"/>
            </a:pPr>
            <a:endParaRPr lang="en-US" sz="1500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EA47ABD2-2A95-49A6-8E0C-BDE47E8989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4945" y="1068081"/>
            <a:ext cx="4091868" cy="3125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8092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Resilience4j Time Limiter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9FBE4C-C91E-4622-88D3-A7A47769C790}"/>
              </a:ext>
            </a:extLst>
          </p:cNvPr>
          <p:cNvSpPr txBox="1"/>
          <p:nvPr/>
        </p:nvSpPr>
        <p:spPr>
          <a:xfrm>
            <a:off x="497283" y="949966"/>
            <a:ext cx="5311846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It defines a timeout for each request, so every request that exceeds this timeout will fail.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If service is taking more than defined time, will return default response or failure.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lvl="1" indent="-285750">
              <a:buFontTx/>
              <a:buChar char="-"/>
            </a:pPr>
            <a:r>
              <a:rPr lang="en-US" b="1" dirty="0"/>
              <a:t> a) </a:t>
            </a:r>
            <a:r>
              <a:rPr lang="en-US" b="1" i="1" dirty="0" err="1">
                <a:solidFill>
                  <a:srgbClr val="292929"/>
                </a:solidFill>
                <a:latin typeface="source-serif-pro"/>
              </a:rPr>
              <a:t>timeoutDuration</a:t>
            </a:r>
            <a:r>
              <a:rPr lang="en-US" b="1" dirty="0"/>
              <a:t>: </a:t>
            </a:r>
            <a:r>
              <a:rPr lang="en-US" i="1" dirty="0">
                <a:solidFill>
                  <a:srgbClr val="292929"/>
                </a:solidFill>
                <a:latin typeface="source-serif-pro"/>
              </a:rPr>
              <a:t>After this period time limiter activates and fails the call.</a:t>
            </a:r>
          </a:p>
          <a:p>
            <a:pPr marL="285750" lvl="4" indent="-285750">
              <a:buFontTx/>
              <a:buChar char="-"/>
            </a:pPr>
            <a:r>
              <a:rPr lang="en-US" b="1" dirty="0"/>
              <a:t> b) </a:t>
            </a:r>
            <a:r>
              <a:rPr lang="en-US" b="1" i="1" dirty="0" err="1">
                <a:solidFill>
                  <a:srgbClr val="292929"/>
                </a:solidFill>
                <a:latin typeface="source-serif-pro"/>
              </a:rPr>
              <a:t>cancelRunningFuture</a:t>
            </a:r>
            <a:r>
              <a:rPr lang="en-US" b="1" dirty="0"/>
              <a:t>: </a:t>
            </a:r>
            <a:r>
              <a:rPr lang="en-US" i="1" dirty="0">
                <a:solidFill>
                  <a:srgbClr val="292929"/>
                </a:solidFill>
                <a:latin typeface="source-serif-pro"/>
              </a:rPr>
              <a:t>Boolean to cancel background tasks. </a:t>
            </a:r>
            <a:endParaRPr lang="en-US" sz="1500" b="1" dirty="0"/>
          </a:p>
          <a:p>
            <a:endParaRPr lang="en-US" sz="1500" dirty="0"/>
          </a:p>
          <a:p>
            <a:pPr marL="285750" indent="-285750">
              <a:buFontTx/>
              <a:buChar char="-"/>
            </a:pPr>
            <a:endParaRPr lang="en-US" sz="1500" dirty="0"/>
          </a:p>
          <a:p>
            <a:pPr marL="285750" indent="-285750">
              <a:buFontTx/>
              <a:buChar char="-"/>
            </a:pPr>
            <a:endParaRPr lang="en-US" sz="1500" dirty="0"/>
          </a:p>
          <a:p>
            <a:pPr marL="285750" indent="-285750">
              <a:buFontTx/>
              <a:buChar char="-"/>
            </a:pPr>
            <a:r>
              <a:rPr lang="en-US" sz="1500" dirty="0">
                <a:hlinkClick r:id="rId2"/>
              </a:rPr>
              <a:t>https://resilience4j.readme.io/docs/timeout</a:t>
            </a:r>
            <a:r>
              <a:rPr lang="en-US" sz="15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69980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Resilience4j Bulkhead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FE4004-2AD6-4ED2-B00B-C5E92117ACEE}"/>
              </a:ext>
            </a:extLst>
          </p:cNvPr>
          <p:cNvSpPr txBox="1"/>
          <p:nvPr/>
        </p:nvSpPr>
        <p:spPr>
          <a:xfrm>
            <a:off x="357187" y="794766"/>
            <a:ext cx="7609372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Do not burden service with calls more than its capacity and for that it controls the number of concurrent requests the service can take.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There are two implementations of bulkhead patterns in Resilience4j.</a:t>
            </a:r>
          </a:p>
          <a:p>
            <a:pPr marL="285750" lvl="1" indent="-285750">
              <a:buFontTx/>
              <a:buChar char="-"/>
            </a:pPr>
            <a:r>
              <a:rPr lang="en-US" dirty="0"/>
              <a:t>    a) </a:t>
            </a:r>
            <a:r>
              <a:rPr lang="en-US" b="1" i="0" dirty="0">
                <a:solidFill>
                  <a:srgbClr val="292929"/>
                </a:solidFill>
                <a:effectLst/>
                <a:latin typeface="source-serif-pro"/>
              </a:rPr>
              <a:t>Semaphore </a:t>
            </a:r>
            <a:r>
              <a:rPr lang="en-US" b="0" i="0" dirty="0">
                <a:solidFill>
                  <a:srgbClr val="292929"/>
                </a:solidFill>
                <a:effectLst/>
                <a:latin typeface="source-serif-pro"/>
              </a:rPr>
              <a:t>— In this approach, we limit the number of concurrent requests to the service. It will reject the incoming requests once the limit is hit</a:t>
            </a:r>
            <a:endParaRPr lang="en-US" dirty="0">
              <a:solidFill>
                <a:srgbClr val="292929"/>
              </a:solidFill>
              <a:latin typeface="source-serif-pro"/>
            </a:endParaRPr>
          </a:p>
          <a:p>
            <a:pPr marL="285750" lvl="1" indent="-285750">
              <a:buFontTx/>
              <a:buChar char="-"/>
            </a:pPr>
            <a:r>
              <a:rPr lang="en-US" dirty="0">
                <a:solidFill>
                  <a:srgbClr val="292929"/>
                </a:solidFill>
                <a:latin typeface="source-serif-pro"/>
              </a:rPr>
              <a:t>     b) </a:t>
            </a:r>
            <a:r>
              <a:rPr lang="en-US" b="1" i="0" dirty="0">
                <a:solidFill>
                  <a:srgbClr val="292929"/>
                </a:solidFill>
                <a:effectLst/>
                <a:latin typeface="source-serif-pro"/>
              </a:rPr>
              <a:t>FixedThreadPoolBulkhead — </a:t>
            </a:r>
            <a:r>
              <a:rPr lang="en-US" b="0" i="0" dirty="0">
                <a:solidFill>
                  <a:srgbClr val="292929"/>
                </a:solidFill>
                <a:effectLst/>
                <a:latin typeface="source-serif-pro"/>
              </a:rPr>
              <a:t>In this approach, we isolate a set of thread pool from system resources, using only that thread pool for the service</a:t>
            </a:r>
          </a:p>
          <a:p>
            <a:endParaRPr lang="en-US" dirty="0"/>
          </a:p>
          <a:p>
            <a:r>
              <a:rPr lang="en-US" dirty="0"/>
              <a:t>Config:</a:t>
            </a:r>
          </a:p>
          <a:p>
            <a:pPr marL="285750" lvl="1" indent="-285750">
              <a:buFontTx/>
              <a:buChar char="-"/>
            </a:pPr>
            <a:r>
              <a:rPr lang="en-US" b="1" dirty="0"/>
              <a:t> a) </a:t>
            </a:r>
            <a:r>
              <a:rPr lang="en-US" b="1" i="1" dirty="0">
                <a:solidFill>
                  <a:srgbClr val="292929"/>
                </a:solidFill>
                <a:effectLst/>
                <a:latin typeface="source-serif-pro"/>
              </a:rPr>
              <a:t>maxConcurrentCall</a:t>
            </a:r>
            <a:r>
              <a:rPr lang="en-US" b="1" i="0" dirty="0">
                <a:solidFill>
                  <a:srgbClr val="292929"/>
                </a:solidFill>
                <a:effectLst/>
                <a:latin typeface="source-serif-pro"/>
              </a:rPr>
              <a:t>s</a:t>
            </a:r>
            <a:r>
              <a:rPr lang="en-US" b="0" i="0" dirty="0">
                <a:solidFill>
                  <a:srgbClr val="292929"/>
                </a:solidFill>
                <a:effectLst/>
                <a:latin typeface="source-serif-pro"/>
              </a:rPr>
              <a:t> is the max amount of parallel execution allowed by the bulkhead</a:t>
            </a:r>
            <a:r>
              <a:rPr lang="en-US" i="1" dirty="0">
                <a:solidFill>
                  <a:srgbClr val="292929"/>
                </a:solidFill>
                <a:latin typeface="source-serif-pro"/>
              </a:rPr>
              <a:t>.</a:t>
            </a:r>
          </a:p>
          <a:p>
            <a:pPr marL="285750" lvl="4" indent="-285750">
              <a:buFontTx/>
              <a:buChar char="-"/>
            </a:pPr>
            <a:r>
              <a:rPr lang="en-US" b="1" dirty="0"/>
              <a:t> b) </a:t>
            </a:r>
            <a:r>
              <a:rPr lang="en-US" b="1" i="1" dirty="0">
                <a:solidFill>
                  <a:srgbClr val="292929"/>
                </a:solidFill>
                <a:effectLst/>
                <a:latin typeface="source-serif-pro"/>
              </a:rPr>
              <a:t>maxWaitDuration</a:t>
            </a:r>
            <a:r>
              <a:rPr lang="en-US" b="0" i="0" dirty="0">
                <a:solidFill>
                  <a:srgbClr val="292929"/>
                </a:solidFill>
                <a:effectLst/>
                <a:latin typeface="source-serif-pro"/>
              </a:rPr>
              <a:t> is the max amount of time a thread will be blocked for attempting to enter the maxConcurrentCalls count. Any additional requests will wait for the given duration. Otherwise, it will go with default/fallback method.</a:t>
            </a:r>
          </a:p>
          <a:p>
            <a:pPr marL="285750" lvl="4" indent="-285750">
              <a:buFontTx/>
              <a:buChar char="-"/>
            </a:pPr>
            <a:endParaRPr lang="en-US" sz="1500" dirty="0">
              <a:solidFill>
                <a:srgbClr val="292929"/>
              </a:solidFill>
              <a:latin typeface="source-serif-pro"/>
            </a:endParaRPr>
          </a:p>
          <a:p>
            <a:pPr marL="285750" lvl="4" indent="-285750">
              <a:buFontTx/>
              <a:buChar char="-"/>
            </a:pPr>
            <a:r>
              <a:rPr lang="en-US" sz="1500" dirty="0">
                <a:solidFill>
                  <a:srgbClr val="292929"/>
                </a:solidFill>
                <a:latin typeface="source-serif-pro"/>
              </a:rPr>
              <a:t>Note: Config is shared across API’s</a:t>
            </a:r>
            <a:endParaRPr lang="en-US" sz="1500" dirty="0"/>
          </a:p>
          <a:p>
            <a:pPr marL="285750" indent="-285750">
              <a:buFontTx/>
              <a:buChar char="-"/>
            </a:pPr>
            <a:endParaRPr lang="en-US" sz="1500" dirty="0"/>
          </a:p>
          <a:p>
            <a:pPr marL="285750" indent="-285750">
              <a:buFontTx/>
              <a:buChar char="-"/>
            </a:pPr>
            <a:r>
              <a:rPr lang="en-US" sz="1500" dirty="0">
                <a:hlinkClick r:id="rId2"/>
              </a:rPr>
              <a:t>https://resilience4j.readme.io/docs/bulkhead</a:t>
            </a:r>
            <a:r>
              <a:rPr lang="en-US" sz="15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18118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Flyway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9FBE4C-C91E-4622-88D3-A7A47769C790}"/>
              </a:ext>
            </a:extLst>
          </p:cNvPr>
          <p:cNvSpPr txBox="1"/>
          <p:nvPr/>
        </p:nvSpPr>
        <p:spPr>
          <a:xfrm>
            <a:off x="497283" y="949966"/>
            <a:ext cx="5311846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Flyway is an open-source tool for version controlling database. </a:t>
            </a:r>
            <a:r>
              <a:rPr lang="en-US" b="0" i="0" dirty="0">
                <a:solidFill>
                  <a:srgbClr val="292929"/>
                </a:solidFill>
                <a:effectLst/>
                <a:latin typeface="source-serif-pro"/>
              </a:rPr>
              <a:t>It’s like the Git for the databases.</a:t>
            </a: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Flyway enables you to write SQL scripts for your schemas and tables and version them to ensure consistency and offers the ability to roll back as needed.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By default, Flyway will check for migration files inside </a:t>
            </a:r>
            <a:r>
              <a:rPr lang="en-US" dirty="0" err="1"/>
              <a:t>src</a:t>
            </a:r>
            <a:r>
              <a:rPr lang="en-US" dirty="0"/>
              <a:t>/main/resources/</a:t>
            </a:r>
            <a:r>
              <a:rPr lang="en-US" dirty="0" err="1"/>
              <a:t>db</a:t>
            </a:r>
            <a:r>
              <a:rPr lang="en-US" dirty="0"/>
              <a:t>/migration. If you used the Spring Initializer to add Flyway, this directory has already been created for you. If not, create that directory.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The migration file should be named as such: V1__Create_customer_table.sql </a:t>
            </a:r>
            <a:r>
              <a:rPr lang="en-US" dirty="0" err="1"/>
              <a:t>etc</a:t>
            </a:r>
            <a:endParaRPr lang="en-US" dirty="0"/>
          </a:p>
          <a:p>
            <a:pPr marL="285750" indent="-285750">
              <a:buFontTx/>
              <a:buChar char="-"/>
            </a:pPr>
            <a:endParaRPr lang="en-US" sz="1500" b="1" dirty="0"/>
          </a:p>
          <a:p>
            <a:pPr marL="285750" indent="-285750">
              <a:buFontTx/>
              <a:buChar char="-"/>
            </a:pPr>
            <a:r>
              <a:rPr lang="en-US" dirty="0"/>
              <a:t>Alternate</a:t>
            </a:r>
            <a:r>
              <a:rPr lang="en-US" sz="1500" dirty="0"/>
              <a:t>: </a:t>
            </a:r>
            <a:r>
              <a:rPr lang="en-US" sz="1500" dirty="0">
                <a:hlinkClick r:id="rId2"/>
              </a:rPr>
              <a:t>https://www.liquibase.org/get-started/quickstart</a:t>
            </a:r>
            <a:r>
              <a:rPr lang="en-US" sz="1500" dirty="0"/>
              <a:t> </a:t>
            </a:r>
          </a:p>
          <a:p>
            <a:endParaRPr lang="en-US" sz="1500" dirty="0"/>
          </a:p>
          <a:p>
            <a:pPr marL="285750" indent="-285750">
              <a:buFontTx/>
              <a:buChar char="-"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912582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588852" y="2098360"/>
            <a:ext cx="5582093" cy="587388"/>
          </a:xfrm>
        </p:spPr>
        <p:txBody>
          <a:bodyPr/>
          <a:lstStyle/>
          <a:p>
            <a:r>
              <a:rPr lang="en-US" sz="4800" dirty="0"/>
              <a:t>Q &amp; A</a:t>
            </a:r>
          </a:p>
          <a:p>
            <a:endParaRPr lang="en-US" sz="4800" dirty="0"/>
          </a:p>
          <a:p>
            <a:r>
              <a:rPr lang="en-US" sz="3200" dirty="0"/>
              <a:t>Thank you !!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1696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theme/theme1.xml><?xml version="1.0" encoding="utf-8"?>
<a:theme xmlns:a="http://schemas.openxmlformats.org/drawingml/2006/main" name="Covers">
  <a:themeElements>
    <a:clrScheme name="EPAM September 2017">
      <a:dk1>
        <a:srgbClr val="222222"/>
      </a:dk1>
      <a:lt1>
        <a:srgbClr val="FFFFFF"/>
      </a:lt1>
      <a:dk2>
        <a:srgbClr val="464547"/>
      </a:dk2>
      <a:lt2>
        <a:srgbClr val="CCCCCC"/>
      </a:lt2>
      <a:accent1>
        <a:srgbClr val="76CDD8"/>
      </a:accent1>
      <a:accent2>
        <a:srgbClr val="008ACF"/>
      </a:accent2>
      <a:accent3>
        <a:srgbClr val="CEDB56"/>
      </a:accent3>
      <a:accent4>
        <a:srgbClr val="D35D47"/>
      </a:accent4>
      <a:accent5>
        <a:srgbClr val="39C2D7"/>
      </a:accent5>
      <a:accent6>
        <a:srgbClr val="222222"/>
      </a:accent6>
      <a:hlink>
        <a:srgbClr val="76CDD8"/>
      </a:hlink>
      <a:folHlink>
        <a:srgbClr val="76CDD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General">
  <a:themeElements>
    <a:clrScheme name="EPAM September 2017">
      <a:dk1>
        <a:srgbClr val="222222"/>
      </a:dk1>
      <a:lt1>
        <a:srgbClr val="FFFFFF"/>
      </a:lt1>
      <a:dk2>
        <a:srgbClr val="464547"/>
      </a:dk2>
      <a:lt2>
        <a:srgbClr val="CCCCCC"/>
      </a:lt2>
      <a:accent1>
        <a:srgbClr val="76CDD8"/>
      </a:accent1>
      <a:accent2>
        <a:srgbClr val="008ACF"/>
      </a:accent2>
      <a:accent3>
        <a:srgbClr val="CEDB56"/>
      </a:accent3>
      <a:accent4>
        <a:srgbClr val="D35D47"/>
      </a:accent4>
      <a:accent5>
        <a:srgbClr val="39C2D7"/>
      </a:accent5>
      <a:accent6>
        <a:srgbClr val="222222"/>
      </a:accent6>
      <a:hlink>
        <a:srgbClr val="76CDD8"/>
      </a:hlink>
      <a:folHlink>
        <a:srgbClr val="76CDD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13704</TotalTime>
  <Words>1089</Words>
  <Application>Microsoft Office PowerPoint</Application>
  <PresentationFormat>On-screen Show (16:9)</PresentationFormat>
  <Paragraphs>131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source-serif-pro</vt:lpstr>
      <vt:lpstr>Covers</vt:lpstr>
      <vt:lpstr>General</vt:lpstr>
      <vt:lpstr>Resilience4j Circuit Breaker &amp; Flyway Patterns</vt:lpstr>
      <vt:lpstr>Agenda</vt:lpstr>
      <vt:lpstr>Microservice Architecture</vt:lpstr>
      <vt:lpstr>What is Circuit Breaker?</vt:lpstr>
      <vt:lpstr>Circuit Breaker State</vt:lpstr>
      <vt:lpstr>Circuit Breaker Type</vt:lpstr>
      <vt:lpstr>Resilience4j CB Implementation</vt:lpstr>
      <vt:lpstr>Resilience4j Circuit Breaker</vt:lpstr>
      <vt:lpstr>Resilience4j Retry</vt:lpstr>
      <vt:lpstr>Resilience4j Rate Limiter</vt:lpstr>
      <vt:lpstr>Resilience4j Time Limiter</vt:lpstr>
      <vt:lpstr>Resilience4j Bulkhead</vt:lpstr>
      <vt:lpstr>Flyway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Microservices with Spring Cloud</dc:title>
  <dc:creator>Saurabh Mishra</dc:creator>
  <cp:lastModifiedBy>Rupesh Patil</cp:lastModifiedBy>
  <cp:revision>649</cp:revision>
  <dcterms:modified xsi:type="dcterms:W3CDTF">2022-11-30T05:27:14Z</dcterms:modified>
</cp:coreProperties>
</file>